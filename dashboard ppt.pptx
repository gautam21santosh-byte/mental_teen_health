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notesSlides/notesSlide13.xml" ContentType="application/vnd.openxmlformats-officedocument.presentationml.notesSlide+xml"/>
  <Override PartName="/ppt/charts/chart1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304-4BF6-B683-49465FB2224C}"/>
              </c:ext>
            </c:extLst>
          </c:dPt>
          <c:dPt>
            <c:idx val="1"/>
            <c:invertIfNegative val="0"/>
            <c:bubble3D val="0"/>
            <c:spPr>
              <a:solidFill>
                <a:srgbClr val="43A0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04-4BF6-B683-49465FB2224C}"/>
              </c:ext>
            </c:extLst>
          </c:dPt>
          <c:dPt>
            <c:idx val="2"/>
            <c:invertIfNegative val="0"/>
            <c:bubble3D val="0"/>
            <c:spPr>
              <a:solidFill>
                <a:srgbClr val="A5D6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04-4BF6-B683-49465FB2224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F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&lt; 30 years</c:v>
                </c:pt>
                <c:pt idx="1">
                  <c:v>30–35 years</c:v>
                </c:pt>
                <c:pt idx="2">
                  <c:v>&gt; 35 years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</c:v>
                </c:pt>
                <c:pt idx="1">
                  <c:v>0.72</c:v>
                </c:pt>
                <c:pt idx="2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304-4BF6-B683-49465FB222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PCOS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65A-422A-A85B-DC3B628C11CD}"/>
              </c:ext>
            </c:extLst>
          </c:dPt>
          <c:dPt>
            <c:idx val="1"/>
            <c:bubble3D val="0"/>
            <c:spPr>
              <a:solidFill>
                <a:srgbClr val="A5D6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5A-422A-A85B-DC3B628C11CD}"/>
              </c:ext>
            </c:extLst>
          </c:dPt>
          <c:dPt>
            <c:idx val="2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65A-422A-A85B-DC3B628C11CD}"/>
              </c:ext>
            </c:extLst>
          </c:dPt>
          <c:dPt>
            <c:idx val="3"/>
            <c:bubble3D val="0"/>
            <c:spPr>
              <a:solidFill>
                <a:srgbClr val="FFCD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65A-422A-A85B-DC3B628C11CD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65A-422A-A85B-DC3B628C11CD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565A-422A-A85B-DC3B628C11CD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565A-422A-A85B-DC3B628C11CD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565A-422A-A85B-DC3B628C11C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 PCOS (Success)</c:v>
                </c:pt>
                <c:pt idx="1">
                  <c:v>No PCOS (Failure)</c:v>
                </c:pt>
                <c:pt idx="2">
                  <c:v>PCOS (Success)</c:v>
                </c:pt>
                <c:pt idx="3">
                  <c:v>PCOS (Failure)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32</c:v>
                </c:pt>
                <c:pt idx="2">
                  <c:v>42</c:v>
                </c:pt>
                <c:pt idx="3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65A-422A-A85B-DC3B628C11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47-4B3B-A2F4-6B0A68E01AB3}"/>
              </c:ext>
            </c:extLst>
          </c:dPt>
          <c:dPt>
            <c:idx val="1"/>
            <c:invertIfNegative val="0"/>
            <c:bubble3D val="0"/>
            <c:spPr>
              <a:solidFill>
                <a:srgbClr val="E91E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47-4B3B-A2F4-6B0A68E01A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F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Regular Cycle</c:v>
                </c:pt>
                <c:pt idx="1">
                  <c:v>Irregular Cycle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50.25</c:v>
                </c:pt>
                <c:pt idx="1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47-4B3B-A2F4-6B0A68E01A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839-4F72-9620-CFBF906255D6}"/>
              </c:ext>
            </c:extLst>
          </c:dPt>
          <c:dPt>
            <c:idx val="1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39-4F72-9620-CFBF906255D6}"/>
              </c:ext>
            </c:extLst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39-4F72-9620-CFBF906255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F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Stress</c:v>
                </c:pt>
                <c:pt idx="1">
                  <c:v>Medium Stress</c:v>
                </c:pt>
                <c:pt idx="2">
                  <c:v>High Stress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0.69</c:v>
                </c:pt>
                <c:pt idx="2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39-4F72-9620-CFBF906255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0000"/>
                </a:solidFill>
                <a:latin typeface="Arial"/>
              </a:rPr>
              <a:t>Sperm Count vs Male Age Weight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Sperm/Age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40-4B21-A999-0B0D9F8915CA}"/>
              </c:ext>
            </c:extLst>
          </c:dPt>
          <c:dPt>
            <c:idx val="1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40-4B21-A999-0B0D9F8915CA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3B40-4B21-A999-0B0D9F8915CA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3B40-4B21-A999-0B0D9F8915C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Sperm Count (High Motility)</c:v>
                </c:pt>
                <c:pt idx="1">
                  <c:v>Male Age (26.48% weight)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73.52</c:v>
                </c:pt>
                <c:pt idx="1">
                  <c:v>26.48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40-4B21-A999-0B0D9F8915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0000"/>
                </a:solidFill>
                <a:latin typeface="Arial"/>
              </a:rPr>
              <a:t>Motility Group vs Success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43A04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7DE-4B0C-9840-3B836C270C63}"/>
              </c:ext>
            </c:extLst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DE-4B0C-9840-3B836C270C63}"/>
              </c:ext>
            </c:extLst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DE-4B0C-9840-3B836C270C6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Medium Motility</c:v>
                </c:pt>
                <c:pt idx="1">
                  <c:v>High Motility</c:v>
                </c:pt>
                <c:pt idx="2">
                  <c:v>Low Motility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</c:v>
                </c:pt>
                <c:pt idx="1">
                  <c:v>0.85</c:v>
                </c:pt>
                <c:pt idx="2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DE-4B0C-9840-3B836C270C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43A0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Motility</c:v>
                </c:pt>
                <c:pt idx="1">
                  <c:v>Medium Motility</c:v>
                </c:pt>
                <c:pt idx="2">
                  <c:v>High Motility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72</c:v>
                </c:pt>
                <c:pt idx="2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9C-44DF-A05B-C64D51E312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 Rate %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Motility</c:v>
                </c:pt>
                <c:pt idx="1">
                  <c:v>Medium Motility</c:v>
                </c:pt>
                <c:pt idx="2">
                  <c:v>High Motility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</c:v>
                </c:pt>
                <c:pt idx="1">
                  <c:v>28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9C-44DF-A05B-C64D51E312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093498181148421E-2"/>
          <c:y val="4.5245866702559617E-2"/>
          <c:w val="0.87933895872665035"/>
          <c:h val="0.8616152948830114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 Age</c:v>
                </c:pt>
              </c:strCache>
            </c:strRef>
          </c:tx>
          <c:spPr>
            <a:ln w="190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0.5</c:v>
                </c:pt>
                <c:pt idx="4">
                  <c:v>0.6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1</c:v>
                </c:pt>
                <c:pt idx="9">
                  <c:v>1</c:v>
                </c:pt>
                <c:pt idx="10">
                  <c:v>0.9</c:v>
                </c:pt>
                <c:pt idx="11">
                  <c:v>0.8</c:v>
                </c:pt>
                <c:pt idx="12">
                  <c:v>0.5</c:v>
                </c:pt>
                <c:pt idx="13">
                  <c:v>0.3</c:v>
                </c:pt>
                <c:pt idx="14">
                  <c:v>0.2</c:v>
                </c:pt>
                <c:pt idx="15">
                  <c:v>0.6</c:v>
                </c:pt>
                <c:pt idx="16">
                  <c:v>0.7</c:v>
                </c:pt>
                <c:pt idx="17">
                  <c:v>1</c:v>
                </c:pt>
                <c:pt idx="18">
                  <c:v>0.4</c:v>
                </c:pt>
                <c:pt idx="19">
                  <c:v>1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42</c:v>
                </c:pt>
                <c:pt idx="1">
                  <c:v>40</c:v>
                </c:pt>
                <c:pt idx="2">
                  <c:v>39</c:v>
                </c:pt>
                <c:pt idx="3">
                  <c:v>38</c:v>
                </c:pt>
                <c:pt idx="4">
                  <c:v>36</c:v>
                </c:pt>
                <c:pt idx="5">
                  <c:v>35</c:v>
                </c:pt>
                <c:pt idx="6">
                  <c:v>33</c:v>
                </c:pt>
                <c:pt idx="7">
                  <c:v>30</c:v>
                </c:pt>
                <c:pt idx="8">
                  <c:v>28</c:v>
                </c:pt>
                <c:pt idx="9">
                  <c:v>25</c:v>
                </c:pt>
                <c:pt idx="10">
                  <c:v>27</c:v>
                </c:pt>
                <c:pt idx="11">
                  <c:v>29</c:v>
                </c:pt>
                <c:pt idx="12">
                  <c:v>37</c:v>
                </c:pt>
                <c:pt idx="13">
                  <c:v>41</c:v>
                </c:pt>
                <c:pt idx="14">
                  <c:v>43</c:v>
                </c:pt>
                <c:pt idx="15">
                  <c:v>34</c:v>
                </c:pt>
                <c:pt idx="16">
                  <c:v>31</c:v>
                </c:pt>
                <c:pt idx="17">
                  <c:v>22</c:v>
                </c:pt>
                <c:pt idx="18">
                  <c:v>40</c:v>
                </c:pt>
                <c:pt idx="19">
                  <c:v>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C50-43BB-8C89-A28073D49D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46E7A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2E8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46E7A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E59-4034-9B26-1C9F44BF7D99}"/>
              </c:ext>
            </c:extLst>
          </c:dPt>
          <c:dPt>
            <c:idx val="1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59-4034-9B26-1C9F44BF7D99}"/>
              </c:ext>
            </c:extLst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59-4034-9B26-1C9F44BF7D9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F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Alcohol</c:v>
                </c:pt>
                <c:pt idx="1">
                  <c:v>Moderate Alcohol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65</c:v>
                </c:pt>
                <c:pt idx="2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59-4034-9B26-1C9F44BF7D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%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IVF</c:v>
                </c:pt>
                <c:pt idx="1">
                  <c:v>IUI</c:v>
                </c:pt>
                <c:pt idx="2">
                  <c:v>Medication</c:v>
                </c:pt>
                <c:pt idx="3">
                  <c:v>No Treatment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67</c:v>
                </c:pt>
                <c:pt idx="2">
                  <c:v>58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8-4B77-9B3F-EF53639910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Failure %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IVF</c:v>
                </c:pt>
                <c:pt idx="1">
                  <c:v>IUI</c:v>
                </c:pt>
                <c:pt idx="2">
                  <c:v>Medication</c:v>
                </c:pt>
                <c:pt idx="3">
                  <c:v>No Treatment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</c:v>
                </c:pt>
                <c:pt idx="1">
                  <c:v>33</c:v>
                </c:pt>
                <c:pt idx="2">
                  <c:v>42</c:v>
                </c:pt>
                <c:pt idx="3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C8-4B77-9B3F-EF53639910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Risk Factor Impact Scores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Weight (Impact on Failure)</c:v>
                </c:pt>
              </c:strCache>
            </c:strRef>
          </c:tx>
          <c:spPr>
            <a:ln w="25400" cap="flat">
              <a:solidFill>
                <a:srgbClr val="C628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Female Age &gt;35</c:v>
                </c:pt>
                <c:pt idx="1">
                  <c:v>PCOS</c:v>
                </c:pt>
                <c:pt idx="2">
                  <c:v>Irregular Cycles</c:v>
                </c:pt>
                <c:pt idx="3">
                  <c:v>High Alcohol</c:v>
                </c:pt>
                <c:pt idx="4">
                  <c:v>High Stress</c:v>
                </c:pt>
                <c:pt idx="5">
                  <c:v>Low Motility</c:v>
                </c:pt>
                <c:pt idx="6">
                  <c:v>High BMI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0.46</c:v>
                </c:pt>
                <c:pt idx="1">
                  <c:v>0.38</c:v>
                </c:pt>
                <c:pt idx="2">
                  <c:v>0.35</c:v>
                </c:pt>
                <c:pt idx="3">
                  <c:v>0.3</c:v>
                </c:pt>
                <c:pt idx="4">
                  <c:v>0.22</c:v>
                </c:pt>
                <c:pt idx="5">
                  <c:v>0.47</c:v>
                </c:pt>
                <c:pt idx="6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A8-41DF-9269-4CC6960787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27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FERTILITY HEALTH &amp;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PREGNANCY SUCCESS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</a:t>
            </a:r>
            <a:r>
              <a:rPr lang="en-US" sz="1600" dirty="0" smtClean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2004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Gautam  </a:t>
            </a:r>
            <a:r>
              <a:rPr lang="en-US" sz="130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300" smtClean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</a:t>
            </a: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Fertility_Health_Dataset_2026  •  Tool: Microsoft Power BI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the live dashboard: KPIs, visuals &amp; interactive filters</a:t>
            </a:r>
            <a:endParaRPr lang="en-US" sz="1200" dirty="0"/>
          </a:p>
        </p:txBody>
      </p:sp>
      <p:pic>
        <p:nvPicPr>
          <p:cNvPr id="4" name="Image 0" descr="/mnt/user-data/uploads/dashboard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51560"/>
            <a:ext cx="84124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KPIs — Dashboard Summary Metrics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extracted from the Power BI KPI cards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92938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Couples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14300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31.91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92938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Female 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14300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26280" y="192938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Male 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29400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14300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72.75%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29400" y="192938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Pregnancy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83464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0040" y="362102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23160" y="27432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283464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423160" y="362102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Unsuccessful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26280" y="27432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26280" y="283464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27.25%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26280" y="362102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(100–72.75)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29400" y="27432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83464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72:28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629400" y="362102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Success:Failure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343400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3982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800 couples assessed across the 2026 dataset. 7 in 10 couples achieved pregnancy success — a strong baseline, but the 218 failure cases represent a high-priority clinical cohort.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Group vs Pregnancy Success 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visual: horizontal bar chart — Age_Group vs Success Rate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51560"/>
            <a:ext cx="3063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70448" y="1115568"/>
            <a:ext cx="237744" cy="23774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81344" y="10881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yrs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81344" y="1353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success rate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70448" y="159105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fertility window — best natural outcomes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2258568"/>
            <a:ext cx="3063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70448" y="2322576"/>
            <a:ext cx="237744" cy="23774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81344" y="2295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 yrs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81344" y="2560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success rate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70448" y="27980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still strong; slight age-driven decline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3465576"/>
            <a:ext cx="3063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70448" y="3529584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81344" y="3502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35 yrs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81344" y="3767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success rate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70448" y="400507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drop — early intervention critical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Age is the sharpest divider: success drops 32 percentage points from under-30 to over-35. Every year matters — clinics should prioritise early referrals for women approaching 33+.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PCOS Impact on Pregnancy Success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visual: donut chart — PCOS (Yes/No) vs Success Rate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4389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051560"/>
            <a:ext cx="3749040" cy="1691640"/>
          </a:xfrm>
          <a:prstGeom prst="roundRect">
            <a:avLst>
              <a:gd name="adj" fmla="val 5405"/>
            </a:avLst>
          </a:prstGeom>
          <a:solidFill>
            <a:srgbClr val="F1F8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66360" y="1115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PCOS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6636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 68%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66360" y="1737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Rate:  32%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0" y="2971800"/>
            <a:ext cx="3749040" cy="1691640"/>
          </a:xfrm>
          <a:prstGeom prst="roundRect">
            <a:avLst>
              <a:gd name="adj" fmla="val 5405"/>
            </a:avLst>
          </a:prstGeom>
          <a:solidFill>
            <a:srgbClr val="FFEBE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66360" y="30358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66360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 42%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66360" y="3657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Rate:  58%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0" y="4754880"/>
            <a:ext cx="3749040" cy="201168"/>
          </a:xfrm>
          <a:prstGeom prst="roundRect">
            <a:avLst>
              <a:gd name="adj" fmla="val 18182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20640" y="477316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nearly doubles the failure rate (58% vs 32%)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PCOS patients have a 58% failure rate vs 32% for non-PCOS — a 26pp gap. PCOS is one of the strongest modifiable risk factors in this dataset and demands a dedicated treatment pathway.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Menstrual Regularity vs Pregnancy Success 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visual: horizontal bar — Regular vs Irregular cycle outcomes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154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06070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Cycles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06440" y="13167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50.25% Success Rate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15544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with regular cycles have more than double the success rate of those with irregular cycles.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2267712"/>
            <a:ext cx="3154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23225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Cycles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06440" y="25786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22.50% Success Rate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281635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menstruation often signals hormonal disruption, PCOS, or anovulation — all fertility barriers.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3529584"/>
            <a:ext cx="3154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35844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223.3% Difference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06440" y="384048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Regularity Gap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407822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a 223.3% relative difference — regularity is a tier-1 screening criterion.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Regular cycle patients achieve 50.25% vs 22.50% — a 2x+ advantage. Menstrual regularity should be the first question in any fertility intake assessment.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Level vs Pregnancy Success 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visual: horizontal bar — Low / Medium / High stress outcomes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5156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79008" y="1133856"/>
            <a:ext cx="237744" cy="23774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9904" y="110642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Stress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9904" y="138988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0.84 (84%)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0" y="2167128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79008" y="2249424"/>
            <a:ext cx="237744" cy="237744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9904" y="2221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Stress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89904" y="2505456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0.69 (69%)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0" y="3282696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79008" y="3364992"/>
            <a:ext cx="237744" cy="23774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9904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89904" y="3621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Rate: 0.67 (67%)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0" y="4434840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FFF3E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779008" y="4462272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vs High stress gap: 17 percentage points — counselling &amp; mindfulness programmes can meaningfully shift outcomes.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  Low-stress patients (84%) outperform high-stress (67%) by 17pp. Stress management is an underutilised clinical lever with measurable impact on fertility success.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Sperm Count, Male Age &amp; Motility vs Success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visuals: pie chart (Sperm Count/Male Age) + bar (Motility groups)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3200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657600" y="100584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 High motility patients achieve 85% success vs only 38% for low motility — a 47pp gap. Sperm motility assessment should be a mandatory first-visit test. Male age contributes 26% weight to the sperm quality indicator.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Sperm Motility vs Pregnancy Success — Deep Dive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visual: column chart — Motility group (Medium / High / Low) vs Success Rate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024128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16752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47pp gap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16752" y="1335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high and low motility success rates (85% vs 38%)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97880" y="2002536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16752" y="2048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A0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16752" y="2313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in high motility group — near best-in-class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97880" y="2980944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16752" y="3026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16752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in low motility — highest-risk male factor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97880" y="3959352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16752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16752" y="4270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motility test could flag 62% failure-risk couples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Motility is the single most actionable male-side fertility lever. Clinics implementing mandatory motility screening at intake can stratify risk early and direct couples to the right treatment faster.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 Age vs Success Rate — Distribution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visual: scatter plot — Female_Age on Y-axis vs Success Rate on X-axis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52998806"/>
              </p:ext>
            </p:extLst>
          </p:nvPr>
        </p:nvGraphicFramePr>
        <p:xfrm>
          <a:off x="365760" y="100584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987552"/>
            <a:ext cx="294436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61888" y="1024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yrs   Success Rate: ~95%+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61888" y="12710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fertility — highest natural success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1792224"/>
            <a:ext cx="294436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61888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26–30 yrs   Success Rate: ~80–90%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61888" y="2075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window; slight biological decline begins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596896"/>
            <a:ext cx="294436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61888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31–35 yrs   Success Rate: ~65–75%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61888" y="2880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decline; treatment consideration rises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401568"/>
            <a:ext cx="294436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61888" y="3438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36–40 yrs   Success Rate: ~45–60%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61888" y="36850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drop; ART often recommended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4206240"/>
            <a:ext cx="294436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61888" y="4242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41–45 yrs   Success Rate: ~25–40%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61888" y="4489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probability; donor eggs may be advised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The scatter confirms a clear negative trend — as female age increases, success rate disperses toward lower values. The 35+ threshold is where variability rises sharply and median success dips below 60%.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Intake vs Pregnancy Success 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visual: horizontal bar — Alcohol Intake (High / Moderate / Unknown) vs Success Rate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24128"/>
            <a:ext cx="3154680" cy="123444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0789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Alcohol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06440" y="13533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Success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06440" y="160020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disrupts hormone cycles, reduces egg &amp; sperm quality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2414016"/>
            <a:ext cx="3154680" cy="123444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24688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06440" y="2743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Success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6440" y="299008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 risk; counselling advised for reduction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3803904"/>
            <a:ext cx="3154680" cy="1234440"/>
          </a:xfrm>
          <a:prstGeom prst="roundRect">
            <a:avLst>
              <a:gd name="adj" fmla="val 6667"/>
            </a:avLst>
          </a:prstGeom>
          <a:solidFill>
            <a:srgbClr val="F1F8E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38587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/ None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06440" y="41330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Success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06440" y="437997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proxy for low/no intake — highest success group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🍷  High alcohol intake correlates with only 45% success — a 26pp deficit vs the unknown/none group. Alcohol cessation counselling is a low-cost, high-impact fertility intervention.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Type vs Pregnancy Success Rate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slicer: Treatment Type (IVF / Medication) — filtered outcome analysis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0058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16752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 —  74% Success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16752" y="1335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effective ART — best for complex or multi-factor cases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97880" y="20116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16752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IUI  —  67% Success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16752" y="2340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first-line ART for mild male/unexplained infertility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97880" y="30175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16752" y="3063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 —  58% Success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16752" y="33467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ovulation induction; lower standalone efficacy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97880" y="4023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16752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Treatment  —  62% Success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16752" y="4352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natural conception; higher than medication alone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IVF leads at 74% success. Notably, no-treatment (natural conception) outperforms medication-only (62% vs 58%), suggesting medication is most effective as a complement, not standalone therapy.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Risk Factor Analysis — Multi-Variable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Cross-dimensional insight: where multiple risk factors intersect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47548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987552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68112" y="1033272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42432" y="1014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Age &gt;35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45552" y="101498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0.46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42432" y="124358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predictor — biological ceiling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394960" y="1563624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68112" y="1609344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42432" y="15910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Motility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45552" y="159105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0.47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42432" y="181965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top risk factor on male side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94960" y="2139696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68112" y="2185416"/>
            <a:ext cx="201168" cy="201168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42432" y="2167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845552" y="216712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0.38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42432" y="2395728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disruption — doubles failure rate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94960" y="2715768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68112" y="2761488"/>
            <a:ext cx="201168" cy="20116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42432" y="2743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Cycles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845552" y="274320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0.35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42432" y="2971800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proxy for underlying hormonal issues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394960" y="3291840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68112" y="3337560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42432" y="33192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Alcohol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845552" y="331927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0.30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742432" y="354787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Modifiable — most responsive to intervention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394960" y="3867912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468112" y="3913632"/>
            <a:ext cx="201168" cy="2011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42432" y="3895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845552" y="389534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0.22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742432" y="412394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— counselling can reverse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394960" y="4443984"/>
            <a:ext cx="3429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68112" y="4489704"/>
            <a:ext cx="201168" cy="20116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42432" y="44714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BMI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845552" y="447141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0.15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742432" y="470001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standalone impact but compounds others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4462272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0F2F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02920" y="4517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Age and motility jointly lead risk scores (~0.46–0.47). The two modifiable lifestyle factors — alcohol and stress — have the highest ROI for clinical intervention programmes.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&amp; Strategic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fertility clinic leadership &amp; healthcare professionals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1704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Age-Based Risk Triage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" y="149961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automated age-band screening. Women 33+ should receive accelerated ART referral within 6 months of first consultation.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82312" y="1078992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46904" y="11704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Mandatory Motility 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46904" y="149961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sperm motility &amp; count testing a Day-1 protocol. Couples with low motility (&lt;40%) should bypass medication and go direct to IUI/IVF.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24323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PCOS Pathway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276148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dedicated PCOS treatment corridor. Ovulation induction + IVF gives best outcomes — avoid standalone medication for PCOS patients.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82312" y="2340864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46904" y="24323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  Lifestyle Programme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46904" y="276148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 structured stress reduction + alcohol cessation. Evidence shows 10–26pp outcome improvement. Partner lifestyle should be included.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602736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6941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 Live Monitoring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" y="40233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dashboard's Treatment Type slicer to track outcome rates by therapy in real-time. Monthly refresh cadence recommended.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82312" y="3602736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46904" y="36941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Predictive Risk Scoring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46904" y="40233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logistic regression risk score at intake. Flag high-risk couples (age &gt;35 + PCOS + irregular) for enhanced monitoring from Day 1.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548640"/>
            <a:ext cx="2743200" cy="2743200"/>
          </a:xfrm>
          <a:prstGeom prst="ellipse">
            <a:avLst/>
          </a:prstGeom>
          <a:solidFill>
            <a:srgbClr val="00897B">
              <a:alpha val="18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291840"/>
            <a:ext cx="2286000" cy="22860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29768"/>
          </a:xfrm>
          <a:prstGeom prst="roundRect">
            <a:avLst>
              <a:gd name="adj" fmla="val 12766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78408"/>
            <a:ext cx="237744" cy="2377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9326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72.75%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pregnancy success rate across 800 couples — 582 successes, 218 failures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429768"/>
          </a:xfrm>
          <a:prstGeom prst="roundRect">
            <a:avLst>
              <a:gd name="adj" fmla="val 12766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81328"/>
            <a:ext cx="237744" cy="2377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435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&gt;35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success from 86% → 54% — a 32pp drop. The single most critical clinical variable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429768"/>
          </a:xfrm>
          <a:prstGeom prst="roundRect">
            <a:avLst>
              <a:gd name="adj" fmla="val 12766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84248"/>
            <a:ext cx="237744" cy="2377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19385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PCOS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doubles failure (58% vs 32%). A dedicated PCOS-to-IVF pathway is essential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429768"/>
          </a:xfrm>
          <a:prstGeom prst="roundRect">
            <a:avLst>
              <a:gd name="adj" fmla="val 12766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487168"/>
            <a:ext cx="237744" cy="2377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4414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cycles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only 22.5% success vs 50.25% regular — a 2x+ gap in outcomes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429768"/>
          </a:xfrm>
          <a:prstGeom prst="roundRect">
            <a:avLst>
              <a:gd name="adj" fmla="val 12766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90088"/>
            <a:ext cx="237744" cy="2377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29443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motility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85% success; low motility only 38% — a 47pp gap on the male side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429768"/>
          </a:xfrm>
          <a:prstGeom prst="roundRect">
            <a:avLst>
              <a:gd name="adj" fmla="val 12766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493008"/>
            <a:ext cx="237744" cy="2377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4472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Alcohol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can shift outcomes by 10–26pp — the highest-ROI modifiable factors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429768"/>
          </a:xfrm>
          <a:prstGeom prst="roundRect">
            <a:avLst>
              <a:gd name="adj" fmla="val 12766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995928"/>
            <a:ext cx="237744" cy="2377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9502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leads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74% success. Natural conception (62%) surprisingly outperforms medication alone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8229600" cy="429768"/>
          </a:xfrm>
          <a:prstGeom prst="roundRect">
            <a:avLst>
              <a:gd name="adj" fmla="val 12766"/>
            </a:avLst>
          </a:prstGeom>
          <a:solidFill>
            <a:srgbClr val="1A305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498848"/>
            <a:ext cx="237744" cy="23774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44531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slicers  </a:t>
            </a: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real-time drill-down by stress, treatment, and PCOS — enabling live monitoring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286000" y="4919472"/>
            <a:ext cx="4572000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65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Gautam  |  Data Analyst  •  Fertility Health Dashboard  •  Power BI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1507</Words>
  <Application>Microsoft Office PowerPoint</Application>
  <PresentationFormat>On-screen Show (16:9)</PresentationFormat>
  <Paragraphs>200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Fertility Health &amp; Pregnancy Success – Power BI Dashboard Analysis</dc:title>
  <dc:subject>PptxGenJS Presentation</dc:subject>
  <dc:creator>PptxGenJS</dc:creator>
  <cp:lastModifiedBy>Hp</cp:lastModifiedBy>
  <cp:revision>3</cp:revision>
  <dcterms:created xsi:type="dcterms:W3CDTF">2026-06-18T22:57:48Z</dcterms:created>
  <dcterms:modified xsi:type="dcterms:W3CDTF">2026-06-18T23:08:05Z</dcterms:modified>
</cp:coreProperties>
</file>